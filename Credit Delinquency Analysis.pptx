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Inter" panose="020B0604020202020204" charset="0"/>
      <p:regular r:id="rId9"/>
      <p:bold r:id="rId10"/>
      <p:italic r:id="rId11"/>
      <p:boldItalic r:id="rId12"/>
    </p:embeddedFont>
    <p:embeddedFont>
      <p:font typeface="Inter SemiBold" panose="020B0604020202020204" charset="0"/>
      <p:regular r:id="rId13"/>
      <p:bold r:id="rId14"/>
      <p:italic r:id="rId15"/>
      <p:boldItalic r:id="rId16"/>
    </p:embeddedFont>
    <p:embeddedFont>
      <p:font typeface="Urbanist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63A8679-B105-4FB8-9BE4-F4EACCC66E85}">
  <a:tblStyle styleId="{663A8679-B105-4FB8-9BE4-F4EACCC66E8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3.png"/><Relationship Id="rId5" Type="http://schemas.openxmlformats.org/officeDocument/2006/relationships/image" Target="../media/image19.png"/><Relationship Id="rId10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0477500" y="390525"/>
            <a:ext cx="9429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EFF9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INTRO // 01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45606" y="2014537"/>
            <a:ext cx="630078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Predictive Credit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3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Analytics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4281487"/>
            <a:ext cx="857250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AAAAAA"/>
                </a:solidFill>
                <a:latin typeface="Inter"/>
                <a:ea typeface="Inter"/>
                <a:cs typeface="Inter"/>
                <a:sym typeface="Inter"/>
              </a:rPr>
              <a:t>Advanced delinquency forecasting and risk mitigation strategies using Machine Learning to safeguard loan portfolios and optimize collections.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1809750" y="3995737"/>
            <a:ext cx="857250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1506735"/>
            <a:ext cx="2483643" cy="4770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93293" y="1506735"/>
            <a:ext cx="2483643" cy="4770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5062" y="1506735"/>
            <a:ext cx="2483643" cy="4770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36831" y="1506735"/>
            <a:ext cx="2483643" cy="477023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915525" y="390525"/>
            <a:ext cx="15049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EFF9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FRAMEWORK // 02</a:t>
            </a:r>
            <a:endParaRPr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66800" y="189726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066800" y="2754510"/>
            <a:ext cx="179022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Customer Data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66800" y="3202185"/>
            <a:ext cx="189309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AAAAA"/>
                </a:solidFill>
                <a:latin typeface="Inter"/>
                <a:ea typeface="Inter"/>
                <a:cs typeface="Inter"/>
                <a:sym typeface="Inter"/>
              </a:rPr>
              <a:t>Aggregating demographics, utilization rates, and historical behavioral markers.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788568" y="189726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3788568" y="2754510"/>
            <a:ext cx="135016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Decisioning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3788568" y="3202185"/>
            <a:ext cx="189309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AAAAA"/>
                </a:solidFill>
                <a:latin typeface="Inter"/>
                <a:ea typeface="Inter"/>
                <a:cs typeface="Inter"/>
                <a:sym typeface="Inter"/>
              </a:rPr>
              <a:t>Leveraging Logistic Regression to quantify risk probability per account.</a:t>
            </a:r>
            <a:endParaRPr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10337" y="189726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6510337" y="2754510"/>
            <a:ext cx="191023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Strategic Action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510337" y="3202185"/>
            <a:ext cx="189309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AAAAA"/>
                </a:solidFill>
                <a:latin typeface="Inter"/>
                <a:ea typeface="Inter"/>
                <a:cs typeface="Inter"/>
                <a:sym typeface="Inter"/>
              </a:rPr>
              <a:t>Deploying targeted interventions and proactive limit adjustments.</a:t>
            </a:r>
            <a:endParaRPr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232106" y="189726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9232106" y="2754510"/>
            <a:ext cx="1987748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Continuous Learning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232106" y="3506985"/>
            <a:ext cx="189309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AAAAA"/>
                </a:solidFill>
                <a:latin typeface="Inter"/>
                <a:ea typeface="Inter"/>
                <a:cs typeface="Inter"/>
                <a:sym typeface="Inter"/>
              </a:rPr>
              <a:t>Tracking repayment outcomes to refine and tune model accuracy.</a:t>
            </a:r>
            <a:endParaRPr/>
          </a:p>
        </p:txBody>
      </p:sp>
      <p:pic>
        <p:nvPicPr>
          <p:cNvPr id="111" name="Google Shape;111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252537" y="206871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960018" y="206871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96075" y="206871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403556" y="206871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771525" y="581025"/>
            <a:ext cx="11181397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Strategic </a:t>
            </a:r>
            <a:r>
              <a:rPr lang="en-US" sz="39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Decision Flow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9848850" y="390525"/>
            <a:ext cx="15716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EFF9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GOVERNANCE // 03</a:t>
            </a:r>
            <a:endParaRPr/>
          </a:p>
        </p:txBody>
      </p:sp>
      <p:graphicFrame>
        <p:nvGraphicFramePr>
          <p:cNvPr id="122" name="Google Shape;122;p15"/>
          <p:cNvGraphicFramePr/>
          <p:nvPr>
            <p:extLst>
              <p:ext uri="{D42A27DB-BD31-4B8C-83A1-F6EECF244321}">
                <p14:modId xmlns:p14="http://schemas.microsoft.com/office/powerpoint/2010/main" val="2231945332"/>
              </p:ext>
            </p:extLst>
          </p:nvPr>
        </p:nvGraphicFramePr>
        <p:xfrm>
          <a:off x="771525" y="2274602"/>
          <a:ext cx="10629900" cy="3701655"/>
        </p:xfrm>
        <a:graphic>
          <a:graphicData uri="http://schemas.openxmlformats.org/drawingml/2006/table">
            <a:tbl>
              <a:tblPr firstRow="1" bandRow="1">
                <a:tableStyleId>{663A8679-B105-4FB8-9BE4-F4EACCC66E85}</a:tableStyleId>
              </a:tblPr>
              <a:tblGrid>
                <a:gridCol w="545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8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985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u="none" strike="noStrike" cap="none" dirty="0">
                          <a:solidFill>
                            <a:srgbClr val="DEFF9A"/>
                          </a:solidFill>
                          <a:sym typeface="Urbanist"/>
                        </a:rPr>
                        <a:t>Autonomous Systems</a:t>
                      </a:r>
                      <a:endParaRPr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u="none" strike="noStrike" cap="none">
                          <a:solidFill>
                            <a:srgbClr val="DEFF9A"/>
                          </a:solidFill>
                          <a:sym typeface="Urbanist"/>
                        </a:rPr>
                        <a:t>Human Oversight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Real-time Risk Scoring:</a:t>
                      </a:r>
                      <a:r>
                        <a:rPr lang="en-US" sz="135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 Instant calculation of default probabilities.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Complex Case Adjudication:</a:t>
                      </a:r>
                      <a:r>
                        <a:rPr lang="en-US" sz="135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 Manual review for edge cases.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495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Pattern ID:</a:t>
                      </a:r>
                      <a:r>
                        <a:rPr lang="en-US" sz="135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 Flagging utilization spikes automatically.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Compliance Audits:</a:t>
                      </a:r>
                      <a:r>
                        <a:rPr lang="en-US" sz="135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 Identifying and mitigating algorithmic bias.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6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Automated Alerts:</a:t>
                      </a:r>
                      <a:r>
                        <a:rPr lang="en-US" sz="135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 Triggering proactive SMS/Email reminders.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Hardship Negotiation:</a:t>
                      </a:r>
                      <a:r>
                        <a:rPr lang="en-US" sz="135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 Personalized debt restructuring.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792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High-Speed Ingest:</a:t>
                      </a:r>
                      <a:r>
                        <a:rPr lang="en-US" sz="135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 Processing millions of behavioral markers.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Strategic Policy:</a:t>
                      </a:r>
                      <a:r>
                        <a:rPr lang="en-US" sz="135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 Setting global risk appetite and limits.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3" name="Google Shape;123;p15"/>
          <p:cNvSpPr/>
          <p:nvPr/>
        </p:nvSpPr>
        <p:spPr>
          <a:xfrm>
            <a:off x="781050" y="2230635"/>
            <a:ext cx="5451723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6232773" y="2230635"/>
            <a:ext cx="5178176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781050" y="3030735"/>
            <a:ext cx="545172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6232773" y="3030735"/>
            <a:ext cx="517817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781050" y="3821310"/>
            <a:ext cx="545172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6232773" y="3821310"/>
            <a:ext cx="517817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781050" y="4611885"/>
            <a:ext cx="545172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6232773" y="4611885"/>
            <a:ext cx="517817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781050" y="5402460"/>
            <a:ext cx="545172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6232773" y="5402460"/>
            <a:ext cx="517817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771525" y="581025"/>
            <a:ext cx="11181397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Automation vs. </a:t>
            </a:r>
            <a:r>
              <a:rPr lang="en-US" sz="39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Oversight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48475" y="1506735"/>
            <a:ext cx="45720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10372725" y="390525"/>
            <a:ext cx="10477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EFF9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ETHICS // 04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200150" y="1506735"/>
            <a:ext cx="5172075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Bias &amp; Fairness Monitoring</a:t>
            </a:r>
            <a:r>
              <a:rPr lang="en-US" sz="135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Auditing outputs to ensure neutrality across Age and Employment status.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200150" y="2440185"/>
            <a:ext cx="5172075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Explainable AI (XAI)</a:t>
            </a:r>
            <a:r>
              <a:rPr lang="en-US" sz="135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Clear feature-level explanations for risk scores for all stakeholders.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200150" y="3373635"/>
            <a:ext cx="5172075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 Privacy</a:t>
            </a:r>
            <a:r>
              <a:rPr lang="en-US" sz="135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Strict encryption protocols for sensitive financial transaction history.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200150" y="4307085"/>
            <a:ext cx="5172075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Model Auditing</a:t>
            </a:r>
            <a:r>
              <a:rPr lang="en-US" sz="135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Tracking prediction drift versus real-world performance over time.</a:t>
            </a:r>
            <a:endParaRPr/>
          </a:p>
        </p:txBody>
      </p:sp>
      <p:pic>
        <p:nvPicPr>
          <p:cNvPr id="145" name="Google Shape;14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0" y="1516260"/>
            <a:ext cx="4552950" cy="455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1549598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2483048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341649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1525" y="4349948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771525" y="581025"/>
            <a:ext cx="11181397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Responsible </a:t>
            </a:r>
            <a:r>
              <a:rPr lang="en-US" sz="39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AI Guardrails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1506735"/>
            <a:ext cx="3154114" cy="4770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63764" y="1506735"/>
            <a:ext cx="3154114" cy="4770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56003" y="1506735"/>
            <a:ext cx="3864471" cy="477023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10344150" y="390525"/>
            <a:ext cx="10763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EFF9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IMPACT // 05</a:t>
            </a:r>
            <a:endParaRPr/>
          </a:p>
        </p:txBody>
      </p:sp>
      <p:pic>
        <p:nvPicPr>
          <p:cNvPr id="160" name="Google Shape;16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66800" y="189726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1066800" y="2754510"/>
            <a:ext cx="25003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Business Success KPIs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1066800" y="3202185"/>
            <a:ext cx="256356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AAAAA"/>
                </a:solidFill>
                <a:latin typeface="Inter"/>
                <a:ea typeface="Inter"/>
                <a:cs typeface="Inter"/>
                <a:sym typeface="Inter"/>
              </a:rPr>
              <a:t>• 15% Reduction in overall Delinquency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AAAAAA"/>
                </a:solidFill>
                <a:latin typeface="Inter"/>
                <a:ea typeface="Inter"/>
                <a:cs typeface="Inter"/>
                <a:sym typeface="Inter"/>
              </a:rPr>
              <a:t> • 20% Cost savings in Operations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AAAAAA"/>
                </a:solidFill>
                <a:latin typeface="Inter"/>
                <a:ea typeface="Inter"/>
                <a:cs typeface="Inter"/>
                <a:sym typeface="Inter"/>
              </a:rPr>
              <a:t> • Improved DSO Velocity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AAAAAA"/>
                </a:solidFill>
                <a:latin typeface="Inter"/>
                <a:ea typeface="Inter"/>
                <a:cs typeface="Inter"/>
                <a:sym typeface="Inter"/>
              </a:rPr>
              <a:t> • Minimal Net Charge-off rate</a:t>
            </a:r>
            <a:endParaRPr/>
          </a:p>
        </p:txBody>
      </p:sp>
      <p:pic>
        <p:nvPicPr>
          <p:cNvPr id="163" name="Google Shape;163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59039" y="189726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4459039" y="2754510"/>
            <a:ext cx="2691742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Positive Customer Outcomes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4459039" y="3506985"/>
            <a:ext cx="2563564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AAAAA"/>
                </a:solidFill>
                <a:latin typeface="Inter"/>
                <a:ea typeface="Inter"/>
                <a:cs typeface="Inter"/>
                <a:sym typeface="Inter"/>
              </a:rPr>
              <a:t>• Higher CSAT via respectful contact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AAAAAA"/>
                </a:solidFill>
                <a:latin typeface="Inter"/>
                <a:ea typeface="Inter"/>
                <a:cs typeface="Inter"/>
                <a:sym typeface="Inter"/>
              </a:rPr>
              <a:t> • Improved credit health transparency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AAAAAA"/>
                </a:solidFill>
                <a:latin typeface="Inter"/>
                <a:ea typeface="Inter"/>
                <a:cs typeface="Inter"/>
                <a:sym typeface="Inter"/>
              </a:rPr>
              <a:t> • High hardship recovery success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AAAAAA"/>
                </a:solidFill>
                <a:latin typeface="Inter"/>
                <a:ea typeface="Inter"/>
                <a:cs typeface="Inter"/>
                <a:sym typeface="Inter"/>
              </a:rPr>
              <a:t> • Avoidance of permanent defaults</a:t>
            </a:r>
            <a:endParaRPr/>
          </a:p>
        </p:txBody>
      </p:sp>
      <p:pic>
        <p:nvPicPr>
          <p:cNvPr id="166" name="Google Shape;166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565528" y="1516260"/>
            <a:ext cx="3845421" cy="4751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223962" y="206871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601914" y="206871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771525" y="581025"/>
            <a:ext cx="11181397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Business &amp; </a:t>
            </a:r>
            <a:r>
              <a:rPr lang="en-US" sz="39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Customer Value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4600" y="1506735"/>
            <a:ext cx="5095875" cy="551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1506735"/>
            <a:ext cx="5076825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3883210"/>
            <a:ext cx="5076825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10115550" y="390525"/>
            <a:ext cx="13049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EFF9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STRATEGY // 06</a:t>
            </a:r>
            <a:endParaRPr/>
          </a:p>
        </p:txBody>
      </p:sp>
      <p:pic>
        <p:nvPicPr>
          <p:cNvPr id="179" name="Google Shape;179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72950" y="1351251"/>
            <a:ext cx="5076825" cy="493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66800" y="189726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1066800" y="2754510"/>
            <a:ext cx="273034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Operational Scalability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1066800" y="3202185"/>
            <a:ext cx="44862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AAAAA"/>
                </a:solidFill>
                <a:latin typeface="Inter"/>
                <a:ea typeface="Inter"/>
                <a:cs typeface="Inter"/>
                <a:sym typeface="Inter"/>
              </a:rPr>
              <a:t>The system adapts to high-volume growth without linear headcount increases, allowing for dynamic strategy pivots.</a:t>
            </a:r>
            <a:endParaRPr/>
          </a:p>
        </p:txBody>
      </p:sp>
      <p:pic>
        <p:nvPicPr>
          <p:cNvPr id="183" name="Google Shape;183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66800" y="486906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1066800" y="5726310"/>
            <a:ext cx="183022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Enhanced Trust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1066825" y="6031110"/>
            <a:ext cx="448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AAAAA"/>
                </a:solidFill>
                <a:latin typeface="Inter"/>
                <a:ea typeface="Inter"/>
                <a:cs typeface="Inter"/>
                <a:sym typeface="Inter"/>
              </a:rPr>
              <a:t>Personalized empathy-first messaging increases "Promise-to-Pay" adherence and strengthens brand loyalty.</a:t>
            </a:r>
            <a:endParaRPr/>
          </a:p>
        </p:txBody>
      </p:sp>
      <p:pic>
        <p:nvPicPr>
          <p:cNvPr id="186" name="Google Shape;186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38250" y="206871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209675" y="504051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771525" y="581025"/>
            <a:ext cx="11181397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Strategic </a:t>
            </a:r>
            <a:r>
              <a:rPr lang="en-US" sz="39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Impact on Geldium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</Words>
  <Application>Microsoft Office PowerPoint</Application>
  <PresentationFormat>Widescreen</PresentationFormat>
  <Paragraphs>43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</vt:lpstr>
      <vt:lpstr>Inter SemiBold</vt:lpstr>
      <vt:lpstr>Inter</vt:lpstr>
      <vt:lpstr>Urbanist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shavuddin</dc:creator>
  <cp:lastModifiedBy>SHABUDDIN SHAIK</cp:lastModifiedBy>
  <cp:revision>1</cp:revision>
  <dcterms:modified xsi:type="dcterms:W3CDTF">2026-05-04T21:28:37Z</dcterms:modified>
</cp:coreProperties>
</file>